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A6F-4B94-9FBD-9D6AE8298DAD}"/>
              </c:ext>
            </c:extLst>
          </c:dPt>
          <c:dPt>
            <c:idx val="1"/>
            <c:bubble3D val="0"/>
            <c:spPr>
              <a:solidFill>
                <a:srgbClr val="F8717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A6F-4B94-9FBD-9D6AE8298DA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A6F-4B94-9FBD-9D6AE8298DA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A6F-4B94-9FBD-9D6AE8298DA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Normal</c:v>
                </c:pt>
                <c:pt idx="1">
                  <c:v>Anomaly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449575</c:v>
                </c:pt>
                <c:pt idx="1">
                  <c:v>37211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6F-4B94-9FBD-9D6AE8298D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A2B3C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20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jpg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62000"/>
          </a:blip>
          <a:stretch>
            <a:fillRect/>
          </a:stretch>
        </p:blipFill>
        <p:spPr>
          <a:xfrm>
            <a:off x="5779008" y="425196"/>
            <a:ext cx="3108960" cy="3108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914400"/>
            <a:ext cx="4937760" cy="384048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9144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ANALYTICS PROJECT  ·  TOPIC 3 — TIME SERIES XAI</a:t>
            </a:r>
            <a:endParaRPr lang="en-US" sz="10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627632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25880" y="148132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Aqua XAI</a:t>
            </a:r>
          </a:p>
        </p:txBody>
      </p:sp>
      <p:sp>
        <p:nvSpPr>
          <p:cNvPr id="7" name="Text 3"/>
          <p:cNvSpPr/>
          <p:nvPr/>
        </p:nvSpPr>
        <p:spPr>
          <a:xfrm>
            <a:off x="658368" y="25420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i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Anomaly Detection for Water-Quality Time Series</a:t>
            </a:r>
            <a:endParaRPr lang="en-US" sz="1900" i="1" dirty="0"/>
          </a:p>
        </p:txBody>
      </p:sp>
      <p:sp>
        <p:nvSpPr>
          <p:cNvPr id="8" name="Text 4"/>
          <p:cNvSpPr/>
          <p:nvPr/>
        </p:nvSpPr>
        <p:spPr>
          <a:xfrm>
            <a:off x="658368" y="3017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r>
              <a:rPr lang="en-US" sz="15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r>
              <a:rPr lang="en-US" sz="15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583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4871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4871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486,786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24871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3159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3159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3159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58368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Water Quality (UK)</a:t>
            </a:r>
            <a:r>
              <a:rPr lang="en-US" sz="1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Supervisor: </a:t>
            </a:r>
            <a:r>
              <a:rPr lang="en-US" sz="1100" b="1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Dominik Raab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8F5CC2-674B-E333-1E41-A20DEBA8DC56}"/>
              </a:ext>
            </a:extLst>
          </p:cNvPr>
          <p:cNvSpPr txBox="1"/>
          <p:nvPr/>
        </p:nvSpPr>
        <p:spPr>
          <a:xfrm>
            <a:off x="6582229" y="3743682"/>
            <a:ext cx="213033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Aarav Menon 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(3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017723 )</a:t>
            </a:r>
          </a:p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Erla Anand Divya Theja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(3017656 )</a:t>
            </a:r>
          </a:p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Amit Kumar Rawat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(3015331)</a:t>
            </a:r>
            <a:endParaRPr lang="sv-SE" sz="105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38BDF8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water-quality anomalies — and explain every decision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75488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486,786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457200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samples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32458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850746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37,211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32458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1832458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7.6% rate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7715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26003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207715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ACCURACY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3207715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epochs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82973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601261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82973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LOSS</a:t>
            </a:r>
            <a:endParaRPr lang="en-US" sz="820" dirty="0"/>
          </a:p>
        </p:txBody>
      </p:sp>
      <p:sp>
        <p:nvSpPr>
          <p:cNvPr id="21" name="Text 18"/>
          <p:cNvSpPr/>
          <p:nvPr/>
        </p:nvSpPr>
        <p:spPr>
          <a:xfrm>
            <a:off x="4582973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958230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976518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Grad-CAM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958230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 1</a:t>
            </a:r>
            <a:endParaRPr lang="en-US" sz="820" dirty="0"/>
          </a:p>
        </p:txBody>
      </p:sp>
      <p:sp>
        <p:nvSpPr>
          <p:cNvPr id="25" name="Text 22"/>
          <p:cNvSpPr/>
          <p:nvPr/>
        </p:nvSpPr>
        <p:spPr>
          <a:xfrm>
            <a:off x="5958230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7333488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51776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7333488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 2</a:t>
            </a:r>
            <a:endParaRPr lang="en-US" sz="820" dirty="0"/>
          </a:p>
        </p:txBody>
      </p:sp>
      <p:sp>
        <p:nvSpPr>
          <p:cNvPr id="29" name="Text 26"/>
          <p:cNvSpPr/>
          <p:nvPr/>
        </p:nvSpPr>
        <p:spPr>
          <a:xfrm>
            <a:off x="7333488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57200" y="2432304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58368" y="2560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58368" y="290779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737360" y="2907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anomaly detection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58368" y="327355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737360" y="32735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Quality, UK — Ammonia readings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58368" y="3639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737360" y="36393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Convolutional Neural Network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58368" y="40050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1737360" y="40050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+ SHAP explainability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58368" y="4370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737360" y="43708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anomalies AND explain why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800600" y="2432304"/>
            <a:ext cx="3886200" cy="2377440"/>
          </a:xfrm>
          <a:prstGeom prst="roundRect">
            <a:avLst>
              <a:gd name="adj" fmla="val 30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498348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DISTRIBUTION</a:t>
            </a:r>
            <a:endParaRPr lang="en-US" sz="110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4892040" y="2788920"/>
          <a:ext cx="37033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4ADE80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Training Results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on 100-timestep sliding windows · imbalanced data (7.6%)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4069080" cy="1078992"/>
          </a:xfrm>
          <a:prstGeom prst="roundRect">
            <a:avLst>
              <a:gd name="adj" fmla="val 6780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1612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1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Conv1D(1→16,k5) → ReLU → MaxPool → Conv1D(16→32,k5) → ReLU → AdaptiveAvgPool → Linear(32→2)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2285999"/>
            <a:ext cx="4069080" cy="1051415"/>
          </a:xfrm>
          <a:prstGeom prst="roundRect">
            <a:avLst>
              <a:gd name="adj" fmla="val 8696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571750"/>
            <a:ext cx="3749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epochs · Adam lr=0.005 · CrossEntropy · Batch=32 · Seed=42 · Window = ANOMALY if any timestep anomalous , Dataset: 486,686 windows (from 486,786 rows) | 80% Training (389,348) | 10% Unseen Testing (48,669) | 100 Time Steps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447142"/>
            <a:ext cx="4069080" cy="1326025"/>
          </a:xfrm>
          <a:prstGeom prst="roundRect">
            <a:avLst>
              <a:gd name="adj" fmla="val 4819"/>
            </a:avLst>
          </a:prstGeom>
          <a:solidFill>
            <a:srgbClr val="13234A"/>
          </a:solidFill>
          <a:ln w="12700">
            <a:solidFill>
              <a:srgbClr val="4ADE8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3672114"/>
            <a:ext cx="3721608" cy="99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decays smoothly 0.21 → 0.13 (</a:t>
            </a: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 reduction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with no overfitting. Accuracy climbs 91.5% → 94.7% (</a:t>
            </a: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consistent learning on a 7.6%-anomaly imbalanced dataset</a:t>
            </a:r>
            <a:r>
              <a:rPr lang="en-US" sz="115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45152" y="1108988"/>
            <a:ext cx="4105656" cy="1531064"/>
          </a:xfrm>
          <a:prstGeom prst="roundRect">
            <a:avLst>
              <a:gd name="adj" fmla="val 298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5" name="Image 1" descr="img/training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172996"/>
            <a:ext cx="3977640" cy="1403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266748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— Training loss (left) &amp; accuracy (right) over 10 epochs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754880" y="3063240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54880" y="3154680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0.21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754880" y="3519343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LOSS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748272" y="3063240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48272" y="3154680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748272" y="3519343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LOSS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4754880" y="3941064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754880" y="4032504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91.5%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4754880" y="4397167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ACC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748272" y="3941064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748272" y="4032504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700" dirty="0"/>
          </a:p>
        </p:txBody>
      </p:sp>
      <p:sp>
        <p:nvSpPr>
          <p:cNvPr id="28" name="Text 24"/>
          <p:cNvSpPr/>
          <p:nvPr/>
        </p:nvSpPr>
        <p:spPr>
          <a:xfrm>
            <a:off x="6748272" y="4397167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ACC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FB923C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— Where did the CNN look?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× last Conv1D activation → importance per timestep · Window #244654 (ANOMALY)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329939"/>
            <a:ext cx="4105656" cy="3100841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gradcam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947"/>
            <a:ext cx="3977640" cy="29728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458213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— Raw signal · heatmap · coloured signal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17720" y="1097280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64024" y="1261872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1" name="Text 7"/>
          <p:cNvSpPr/>
          <p:nvPr/>
        </p:nvSpPr>
        <p:spPr>
          <a:xfrm>
            <a:off x="4965192" y="11887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focus — t=3–5, t=22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782312" y="1481328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Darkest red (0.88 / 0.89) at the sharpest Ammonia spikes above 8 mg/l. The last Conv layer fired hardest here.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17720" y="2340864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64024" y="2505456"/>
            <a:ext cx="118872" cy="118872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5" name="Text 11"/>
          <p:cNvSpPr/>
          <p:nvPr/>
        </p:nvSpPr>
        <p:spPr>
          <a:xfrm>
            <a:off x="4965192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focus — t=55–70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782312" y="2724912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orange (0.60–0.68) over a prolonged elevated-Ammonia period — the CNN recognises pollution, not just spikes.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3584448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64024" y="3749040"/>
            <a:ext cx="118872" cy="11887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9" name="Text 15"/>
          <p:cNvSpPr/>
          <p:nvPr/>
        </p:nvSpPr>
        <p:spPr>
          <a:xfrm>
            <a:off x="4965192" y="3675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suspicion — t=10–18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782312" y="3968496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where Ammonia returns to baseline between spikes — correctly judged less suspicious inside the anomaly window.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60A5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How much did each timestep add?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values vs 50 normal backgrounds · signed attribution · Window #244654 (ANOMALY)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282952"/>
            <a:ext cx="4105656" cy="3194816"/>
          </a:xfrm>
          <a:prstGeom prst="roundRect">
            <a:avLst>
              <a:gd name="adj" fmla="val 143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shap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46960"/>
            <a:ext cx="3977640" cy="3066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5052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— Raw signal · heatmap · coloured signal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17720" y="1097280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64024" y="1261872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1" name="Text 7"/>
          <p:cNvSpPr/>
          <p:nvPr/>
        </p:nvSpPr>
        <p:spPr>
          <a:xfrm>
            <a:off x="4965192" y="11887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driver — t=0–1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782312" y="1481328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maroon — the highest positive SHAP value. Initial Ammonia ≈16 mg/l was the single most decisive moment.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17720" y="2340864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64024" y="2505456"/>
            <a:ext cx="118872" cy="118872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5" name="Text 11"/>
          <p:cNvSpPr/>
          <p:nvPr/>
        </p:nvSpPr>
        <p:spPr>
          <a:xfrm>
            <a:off x="4965192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drivers — t=22, t=50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782312" y="2724912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at t=22 (≈0.60) and t=50 (≈0.67) — t=50 ranks higher as it reached ≈9 mg/l, the 2nd-largest spike.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3584448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64024" y="3749040"/>
            <a:ext cx="118872" cy="118872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19" name="Text 15"/>
          <p:cNvSpPr/>
          <p:nvPr/>
        </p:nvSpPr>
        <p:spPr>
          <a:xfrm>
            <a:off x="4965192" y="3675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pushers — t=10–18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782312" y="3968496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baseline readings actively reduce the score — SHAP uniquely captures what counteracted the anomaly.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A78B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vs SHAP — Cross-Validation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window #244654 · same trained CNN · two independent explanations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048649"/>
            <a:ext cx="3145536" cy="2383263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gradcam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12657"/>
            <a:ext cx="3017520" cy="22552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459343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— where the model looked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574161" y="1033272"/>
            <a:ext cx="3092958" cy="2414016"/>
          </a:xfrm>
          <a:prstGeom prst="roundRect">
            <a:avLst>
              <a:gd name="adj" fmla="val 189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0" name="Image 2" descr="img/shap_im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8169" y="1097280"/>
            <a:ext cx="2964942" cy="2286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11880" y="34747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signed contribution (±)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6858000" y="109728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6967728" y="1188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6967728" y="1481328"/>
            <a:ext cx="162763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attention only — where the CNN reacted.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± — how much each step pushed toward anomaly or normal.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3234A"/>
          </a:solidFill>
          <a:ln w="15875">
            <a:solidFill>
              <a:srgbClr val="4ADE8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84048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78561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independently flag the same drivers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68580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t=0–5  (spike 16 mg/l)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68580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0.88  ·  SHAP top +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338328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t=22  (spike 8.5 mg/l)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8328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0.89  ·  SHAP ≈0.60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608076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t=10–18  (baseline)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08076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low  ·  SHAP blue (−)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38BDF8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Results Summary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trained model · seed 42 · 10 epochs · 94.7% accuracy · Window #244654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3456432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Accuracy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on imbalanced dataset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 (start → final)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→ 0.13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 reduction — consistent 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 (start → final)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91.5% → 94.7%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+3.2% over 10 epochs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Grad-CAM top timesteps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t=3–5, t=22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on Ammonia spike peaks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 top timestep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t=0–1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anomaly contribution (16 mg/l)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 secondary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t=22, t=50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&amp; 3rd largest spikes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XAI agreement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flag the same spike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True label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78B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#244654 · ANOMALY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window, correctly classified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A78B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Support — XAI in the Real World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recent papers using our chosen XAI methods on real-world problems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4069080" cy="3127248"/>
          </a:xfrm>
          <a:prstGeom prst="roundRect">
            <a:avLst>
              <a:gd name="adj" fmla="val 23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1188720"/>
            <a:ext cx="782726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188720"/>
            <a:ext cx="782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532534" y="1188720"/>
            <a:ext cx="453542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32534" y="1188720"/>
            <a:ext cx="4535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95805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095805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0080" y="1554480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Time Series as Images for Anomaly Detection Using CNN &amp; Grad-CAM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22860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 et al. · IJPEM · 2024 · DOI 10.1007/s12541-024-01069-6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640080" y="2578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did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1D signals to 2D images (GAF/RP), classify with ResNet50, then use Grad-CAM to pinpoint fault timestamps — 99.6% accuracy.</a:t>
            </a:r>
            <a:endParaRPr lang="en-US" sz="970" dirty="0"/>
          </a:p>
        </p:txBody>
      </p:sp>
      <p:sp>
        <p:nvSpPr>
          <p:cNvPr id="16" name="Text 13"/>
          <p:cNvSpPr/>
          <p:nvPr/>
        </p:nvSpPr>
        <p:spPr>
          <a:xfrm>
            <a:off x="640080" y="345643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us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apply Grad-CAM directly to raw 1D Ammonia signals; our t=3–5 / t=22 focus mirrors their temporal-localisation finding.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4617720" y="1078992"/>
            <a:ext cx="4069080" cy="3127248"/>
          </a:xfrm>
          <a:prstGeom prst="roundRect">
            <a:avLst>
              <a:gd name="adj" fmla="val 23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00600" y="1188720"/>
            <a:ext cx="519379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188720"/>
            <a:ext cx="5193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29707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29707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651346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51346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800600" y="1554480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Anomaly Detection for Water-Quality Sensor Monitoring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00600" y="22860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El-Shafeiy et al. · Sensors (MDPI) · 2023 · DOI 10.3390/s23208613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4800600" y="2578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did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MCN-LSTM for IoT water-quality anomalies, explained with SHAP/LIME. SHAP values aligned with physical water thresholds.</a:t>
            </a:r>
            <a:endParaRPr lang="en-US" sz="970" dirty="0"/>
          </a:p>
        </p:txBody>
      </p:sp>
      <p:sp>
        <p:nvSpPr>
          <p:cNvPr id="27" name="Text 24"/>
          <p:cNvSpPr/>
          <p:nvPr/>
        </p:nvSpPr>
        <p:spPr>
          <a:xfrm>
            <a:off x="4800600" y="345643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us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 &amp; XAI method. They use SHAP per sensor feature; we apply it per timestep — t=0–1 (16 mg/l) as primary driver.</a:t>
            </a:r>
            <a:endParaRPr lang="en-US" sz="970" dirty="0"/>
          </a:p>
        </p:txBody>
      </p:sp>
      <p:sp>
        <p:nvSpPr>
          <p:cNvPr id="28" name="Shape 25"/>
          <p:cNvSpPr/>
          <p:nvPr/>
        </p:nvSpPr>
        <p:spPr>
          <a:xfrm>
            <a:off x="457200" y="431596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1323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8368" y="431596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confirm XAI is essential for trustworthy sensor anomaly detection — our dual Grad-CAM + SHAP results align with the literature.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6309360" y="237744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1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AquaXAI — Detect, then Explain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92224"/>
            <a:ext cx="182880" cy="18288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170078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94.7% accuracy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detects water-quality anomalies (loss 0.13) on an imbalanced 7.6%-anomaly dataset.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395728"/>
            <a:ext cx="182880" cy="182880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30428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= where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the timesteps the CNN reacted to most — sharp Ammonia spikes at t=3–5 and t=22.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999232"/>
            <a:ext cx="182880" cy="182880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2907792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= how much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Signed, bidirectional attribution — t=0–1 (16 mg/l) as primary driver, blue baselines as counter-evidence.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60273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3511296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converge on the same Ammonia-spike timesteps — confirming real pollution detection, not noise.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4206240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" y="411480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literature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XAI methods raise interpretability; results align with Hyun (2024) &amp; El-Shafeiy (2023).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AquaXAI</a:t>
            </a:r>
            <a:r>
              <a:rPr lang="en-US" sz="10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Visual Analytics — Topic 3  ·  Supervisor: Prof. Dr. Dominik Raab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1161</Words>
  <Application>Microsoft Office PowerPoint</Application>
  <PresentationFormat>On-screen Show (16:9)</PresentationFormat>
  <Paragraphs>160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AquaXAI — Explainable Water Quality Anomaly Detection</dc:title>
  <dc:subject>PptxGenJS Presentation</dc:subject>
  <dc:creator>AquaXAI</dc:creator>
  <cp:lastModifiedBy>AMIT RAWAT</cp:lastModifiedBy>
  <cp:revision>8</cp:revision>
  <dcterms:created xsi:type="dcterms:W3CDTF">2026-06-23T15:35:26Z</dcterms:created>
  <dcterms:modified xsi:type="dcterms:W3CDTF">2026-06-29T18:33:07Z</dcterms:modified>
</cp:coreProperties>
</file>