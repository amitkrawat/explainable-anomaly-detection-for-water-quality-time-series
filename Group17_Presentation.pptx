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66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Records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60A5F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BA6F-4B94-9FBD-9D6AE8298DAD}"/>
              </c:ext>
            </c:extLst>
          </c:dPt>
          <c:dPt>
            <c:idx val="1"/>
            <c:bubble3D val="0"/>
            <c:spPr>
              <a:solidFill>
                <a:srgbClr val="F8717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A6F-4B94-9FBD-9D6AE8298DA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DE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A6F-4B94-9FBD-9D6AE8298DA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DE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A6F-4B94-9FBD-9D6AE8298DA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DE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Normal</c:v>
                </c:pt>
                <c:pt idx="1">
                  <c:v>Anomaly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449575</c:v>
                </c:pt>
                <c:pt idx="1">
                  <c:v>37211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6F-4B94-9FBD-9D6AE8298D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A2B3C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4207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jpg"/><Relationship Id="rId4" Type="http://schemas.openxmlformats.org/officeDocument/2006/relationships/image" Target="../media/image7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62000"/>
          </a:blip>
          <a:stretch>
            <a:fillRect/>
          </a:stretch>
        </p:blipFill>
        <p:spPr>
          <a:xfrm>
            <a:off x="5779008" y="425196"/>
            <a:ext cx="3108960" cy="31089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914400"/>
            <a:ext cx="4937760" cy="384048"/>
          </a:xfrm>
          <a:prstGeom prst="roundRect">
            <a:avLst>
              <a:gd name="adj" fmla="val 50000"/>
            </a:avLst>
          </a:prstGeom>
          <a:solidFill>
            <a:srgbClr val="13234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9144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ANALYTICS PROJECT  ·  TOPIC 3 — TIME SERIES XAI</a:t>
            </a:r>
            <a:endParaRPr lang="en-US" sz="10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1627632"/>
            <a:ext cx="566928" cy="56692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325880" y="1481328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Aqua XAI</a:t>
            </a:r>
          </a:p>
        </p:txBody>
      </p:sp>
      <p:sp>
        <p:nvSpPr>
          <p:cNvPr id="7" name="Text 3"/>
          <p:cNvSpPr/>
          <p:nvPr/>
        </p:nvSpPr>
        <p:spPr>
          <a:xfrm>
            <a:off x="658368" y="254203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i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Anomaly Detection for Water-Quality Time Series</a:t>
            </a:r>
            <a:endParaRPr lang="en-US" sz="1900" i="1" dirty="0"/>
          </a:p>
        </p:txBody>
      </p:sp>
      <p:sp>
        <p:nvSpPr>
          <p:cNvPr id="8" name="Text 4"/>
          <p:cNvSpPr/>
          <p:nvPr/>
        </p:nvSpPr>
        <p:spPr>
          <a:xfrm>
            <a:off x="658368" y="30175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CNN</a:t>
            </a:r>
            <a:r>
              <a:rPr lang="en-US" sz="150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5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</a:t>
            </a:r>
            <a:r>
              <a:rPr lang="en-US" sz="150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5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658368" y="3611880"/>
            <a:ext cx="1691640" cy="786384"/>
          </a:xfrm>
          <a:prstGeom prst="roundRect">
            <a:avLst>
              <a:gd name="adj" fmla="val 9302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58368" y="36758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94.7%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658368" y="40965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2487168" y="3611880"/>
            <a:ext cx="1691640" cy="786384"/>
          </a:xfrm>
          <a:prstGeom prst="roundRect">
            <a:avLst>
              <a:gd name="adj" fmla="val 9302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487168" y="36758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486,786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2487168" y="40965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4315968" y="3611880"/>
            <a:ext cx="1691640" cy="786384"/>
          </a:xfrm>
          <a:prstGeom prst="roundRect">
            <a:avLst>
              <a:gd name="adj" fmla="val 9302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315968" y="36758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900" dirty="0"/>
          </a:p>
        </p:txBody>
      </p:sp>
      <p:sp>
        <p:nvSpPr>
          <p:cNvPr id="17" name="Text 13"/>
          <p:cNvSpPr/>
          <p:nvPr/>
        </p:nvSpPr>
        <p:spPr>
          <a:xfrm>
            <a:off x="4315968" y="40965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XAI METHODS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658368" y="46817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Water Quality (UK)</a:t>
            </a:r>
            <a:r>
              <a:rPr lang="en-US" sz="110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Supervisor: </a:t>
            </a:r>
            <a:r>
              <a:rPr lang="en-US" sz="1100" b="1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Dominik Raab</a:t>
            </a:r>
            <a:endParaRPr 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8F5CC2-674B-E333-1E41-A20DEBA8DC56}"/>
              </a:ext>
            </a:extLst>
          </p:cNvPr>
          <p:cNvSpPr txBox="1"/>
          <p:nvPr/>
        </p:nvSpPr>
        <p:spPr>
          <a:xfrm>
            <a:off x="6582229" y="3743682"/>
            <a:ext cx="2130334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sv-SE" sz="1050" dirty="0">
                <a:solidFill>
                  <a:schemeClr val="bg1"/>
                </a:solidFill>
                <a:effectLst/>
                <a:cs typeface="Times New Roman" panose="02020603050405020304" pitchFamily="18" charset="0"/>
              </a:rPr>
              <a:t>Aarav Menon 3</a:t>
            </a:r>
            <a:r>
              <a:rPr lang="sv-SE" sz="1050" dirty="0">
                <a:solidFill>
                  <a:schemeClr val="bg1"/>
                </a:solidFill>
                <a:cs typeface="Times New Roman" panose="02020603050405020304" pitchFamily="18" charset="0"/>
              </a:rPr>
              <a:t> (3</a:t>
            </a:r>
            <a:r>
              <a:rPr lang="sv-SE" sz="1050" dirty="0">
                <a:solidFill>
                  <a:schemeClr val="bg1"/>
                </a:solidFill>
                <a:effectLst/>
                <a:cs typeface="Times New Roman" panose="02020603050405020304" pitchFamily="18" charset="0"/>
              </a:rPr>
              <a:t>017723 )</a:t>
            </a:r>
          </a:p>
          <a:p>
            <a:pPr>
              <a:buNone/>
            </a:pPr>
            <a:r>
              <a:rPr lang="sv-SE" sz="1050" dirty="0">
                <a:solidFill>
                  <a:schemeClr val="bg1"/>
                </a:solidFill>
                <a:effectLst/>
                <a:cs typeface="Times New Roman" panose="02020603050405020304" pitchFamily="18" charset="0"/>
              </a:rPr>
              <a:t>Erla Anand Divya Theja</a:t>
            </a:r>
            <a:r>
              <a:rPr lang="sv-SE" sz="1050" dirty="0">
                <a:solidFill>
                  <a:schemeClr val="bg1"/>
                </a:solidFill>
                <a:cs typeface="Times New Roman" panose="02020603050405020304" pitchFamily="18" charset="0"/>
              </a:rPr>
              <a:t> </a:t>
            </a:r>
            <a:r>
              <a:rPr lang="sv-SE" sz="1050" dirty="0">
                <a:solidFill>
                  <a:schemeClr val="bg1"/>
                </a:solidFill>
                <a:effectLst/>
                <a:cs typeface="Times New Roman" panose="02020603050405020304" pitchFamily="18" charset="0"/>
              </a:rPr>
              <a:t>(3017656 )</a:t>
            </a:r>
          </a:p>
          <a:p>
            <a:pPr>
              <a:buNone/>
            </a:pPr>
            <a:r>
              <a:rPr lang="sv-SE" sz="1050" dirty="0">
                <a:solidFill>
                  <a:schemeClr val="bg1"/>
                </a:solidFill>
                <a:effectLst/>
                <a:cs typeface="Times New Roman" panose="02020603050405020304" pitchFamily="18" charset="0"/>
              </a:rPr>
              <a:t>Amit Kumar Rawat</a:t>
            </a:r>
            <a:r>
              <a:rPr lang="sv-SE" sz="1050" dirty="0">
                <a:solidFill>
                  <a:schemeClr val="bg1"/>
                </a:solidFill>
                <a:cs typeface="Times New Roman" panose="02020603050405020304" pitchFamily="18" charset="0"/>
              </a:rPr>
              <a:t> </a:t>
            </a:r>
            <a:r>
              <a:rPr lang="sv-SE" sz="1050" dirty="0">
                <a:solidFill>
                  <a:schemeClr val="bg1"/>
                </a:solidFill>
                <a:effectLst/>
                <a:cs typeface="Times New Roman" panose="02020603050405020304" pitchFamily="18" charset="0"/>
              </a:rPr>
              <a:t>(3015331)</a:t>
            </a:r>
            <a:endParaRPr lang="sv-SE" sz="105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38BDF8"/>
          </a:solidFill>
          <a:ln/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5720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2743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88720" y="74980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water-quality anomalies — and explain every decision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1078992"/>
            <a:ext cx="1316736" cy="1170432"/>
          </a:xfrm>
          <a:prstGeom prst="roundRect">
            <a:avLst>
              <a:gd name="adj" fmla="val 546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75488" y="11887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486,786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1664208"/>
            <a:ext cx="1316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kern="0" spc="5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RECORDS</a:t>
            </a:r>
            <a:endParaRPr lang="en-US" sz="820" dirty="0"/>
          </a:p>
        </p:txBody>
      </p:sp>
      <p:sp>
        <p:nvSpPr>
          <p:cNvPr id="9" name="Text 6"/>
          <p:cNvSpPr/>
          <p:nvPr/>
        </p:nvSpPr>
        <p:spPr>
          <a:xfrm>
            <a:off x="457200" y="1892808"/>
            <a:ext cx="1316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samples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832458" y="1078992"/>
            <a:ext cx="1316736" cy="1170432"/>
          </a:xfrm>
          <a:prstGeom prst="roundRect">
            <a:avLst>
              <a:gd name="adj" fmla="val 546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850746" y="11887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37,211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832458" y="1664208"/>
            <a:ext cx="1316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kern="0" spc="5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</a:t>
            </a:r>
            <a:endParaRPr lang="en-US" sz="820" dirty="0"/>
          </a:p>
        </p:txBody>
      </p:sp>
      <p:sp>
        <p:nvSpPr>
          <p:cNvPr id="13" name="Text 10"/>
          <p:cNvSpPr/>
          <p:nvPr/>
        </p:nvSpPr>
        <p:spPr>
          <a:xfrm>
            <a:off x="1832458" y="1892808"/>
            <a:ext cx="1316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7.6% rate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207715" y="1078992"/>
            <a:ext cx="1316736" cy="1170432"/>
          </a:xfrm>
          <a:prstGeom prst="roundRect">
            <a:avLst>
              <a:gd name="adj" fmla="val 546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226003" y="11887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94.7%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3207715" y="1664208"/>
            <a:ext cx="1316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kern="0" spc="5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ACCURACY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3207715" y="1892808"/>
            <a:ext cx="1316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epochs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582973" y="1078992"/>
            <a:ext cx="1316736" cy="1170432"/>
          </a:xfrm>
          <a:prstGeom prst="roundRect">
            <a:avLst>
              <a:gd name="adj" fmla="val 546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4601261" y="11887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0.13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4582973" y="1664208"/>
            <a:ext cx="1316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kern="0" spc="5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LOSS</a:t>
            </a:r>
            <a:endParaRPr lang="en-US" sz="820" dirty="0"/>
          </a:p>
        </p:txBody>
      </p:sp>
      <p:sp>
        <p:nvSpPr>
          <p:cNvPr id="21" name="Text 18"/>
          <p:cNvSpPr/>
          <p:nvPr/>
        </p:nvSpPr>
        <p:spPr>
          <a:xfrm>
            <a:off x="4582973" y="1892808"/>
            <a:ext cx="1316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CrossEntropy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5958230" y="1078992"/>
            <a:ext cx="1316736" cy="1170432"/>
          </a:xfrm>
          <a:prstGeom prst="roundRect">
            <a:avLst>
              <a:gd name="adj" fmla="val 546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5976518" y="11887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Grad-CAM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958230" y="1664208"/>
            <a:ext cx="1316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kern="0" spc="5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XAI METHOD 1</a:t>
            </a:r>
            <a:endParaRPr lang="en-US" sz="820" dirty="0"/>
          </a:p>
        </p:txBody>
      </p:sp>
      <p:sp>
        <p:nvSpPr>
          <p:cNvPr id="25" name="Text 22"/>
          <p:cNvSpPr/>
          <p:nvPr/>
        </p:nvSpPr>
        <p:spPr>
          <a:xfrm>
            <a:off x="5958230" y="1892808"/>
            <a:ext cx="1316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7333488" y="1078992"/>
            <a:ext cx="1316736" cy="1170432"/>
          </a:xfrm>
          <a:prstGeom prst="roundRect">
            <a:avLst>
              <a:gd name="adj" fmla="val 546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7351776" y="11887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SHAP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7333488" y="1664208"/>
            <a:ext cx="1316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kern="0" spc="5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XAI METHOD 2</a:t>
            </a:r>
            <a:endParaRPr lang="en-US" sz="820" dirty="0"/>
          </a:p>
        </p:txBody>
      </p:sp>
      <p:sp>
        <p:nvSpPr>
          <p:cNvPr id="29" name="Text 26"/>
          <p:cNvSpPr/>
          <p:nvPr/>
        </p:nvSpPr>
        <p:spPr>
          <a:xfrm>
            <a:off x="7333488" y="1892808"/>
            <a:ext cx="1316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Shapley values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457200" y="2432304"/>
            <a:ext cx="4160520" cy="2377440"/>
          </a:xfrm>
          <a:prstGeom prst="roundRect">
            <a:avLst>
              <a:gd name="adj" fmla="val 3077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658368" y="2560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658368" y="290779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1737360" y="29077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anomaly detection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58368" y="327355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1737360" y="32735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Quality, UK — Ammonia readings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58368" y="363931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1737360" y="363931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Convolutional Neural Network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58368" y="400507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1737360" y="400507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+ SHAP explainability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658368" y="43708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1737360" y="437083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anomalies AND explain why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4800600" y="2432304"/>
            <a:ext cx="3886200" cy="2377440"/>
          </a:xfrm>
          <a:prstGeom prst="roundRect">
            <a:avLst>
              <a:gd name="adj" fmla="val 3077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3" name="Text 40"/>
          <p:cNvSpPr/>
          <p:nvPr/>
        </p:nvSpPr>
        <p:spPr>
          <a:xfrm>
            <a:off x="4983480" y="2560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DISTRIBUTION</a:t>
            </a:r>
            <a:endParaRPr lang="en-US" sz="110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4892040" y="2788920"/>
          <a:ext cx="370332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4ADE80"/>
          </a:solidFill>
          <a:ln/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5720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2743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Training Results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88720" y="74980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CNN on 100-timestep sliding windows · imbalanced data (7.6%)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1078992"/>
            <a:ext cx="4069080" cy="1078992"/>
          </a:xfrm>
          <a:prstGeom prst="roundRect">
            <a:avLst>
              <a:gd name="adj" fmla="val 6780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0080" y="116128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2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AF1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Conv1D(1→16,k5) → ReLU → MaxPool → Conv1D(16→32,k5) → ReLU → AdaptiveAvgPool → Linear(32→2)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57200" y="2285999"/>
            <a:ext cx="4069080" cy="1051415"/>
          </a:xfrm>
          <a:prstGeom prst="roundRect">
            <a:avLst>
              <a:gd name="adj" fmla="val 8696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0080" y="23591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2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40080" y="2571750"/>
            <a:ext cx="374904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epochs · Adam lr=0.005 · CrossEntropy · Batch=32 · Seed=42 · Window = ANOMALY if any timestep anomalous , Dataset: 486,686 windows (from 486,786 rows) | 80% Training (389,348) | 10% Unseen Testing (48,669) | 100 Time Steps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3447142"/>
            <a:ext cx="4069080" cy="1326025"/>
          </a:xfrm>
          <a:prstGeom prst="roundRect">
            <a:avLst>
              <a:gd name="adj" fmla="val 4819"/>
            </a:avLst>
          </a:prstGeom>
          <a:solidFill>
            <a:srgbClr val="13234A"/>
          </a:solidFill>
          <a:ln w="12700">
            <a:solidFill>
              <a:srgbClr val="4ADE80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40080" y="3672114"/>
            <a:ext cx="3721608" cy="99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</a:p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decays smoothly 0.21 → 0.13 (</a:t>
            </a:r>
            <a:r>
              <a:rPr lang="en-US" sz="1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 reduction</a:t>
            </a:r>
            <a:r>
              <a:rPr lang="en-US" sz="10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with no overfitting. Accuracy climbs 91.5% → 94.7% (</a:t>
            </a:r>
            <a:r>
              <a:rPr lang="en-US" sz="1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+3.2%</a:t>
            </a:r>
            <a:r>
              <a:rPr lang="en-US" sz="10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— consistent learning on a 7.6%-anomaly imbalanced dataset</a:t>
            </a:r>
            <a:r>
              <a:rPr lang="en-US" sz="115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645152" y="1108988"/>
            <a:ext cx="4105656" cy="1531064"/>
          </a:xfrm>
          <a:prstGeom prst="roundRect">
            <a:avLst>
              <a:gd name="adj" fmla="val 2986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15" name="Image 1" descr="img/training_im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1172996"/>
            <a:ext cx="3977640" cy="140304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709160" y="2667484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 — Training loss (left) &amp; accuracy (right) over 10 epochs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4754880" y="3063240"/>
            <a:ext cx="1874520" cy="786384"/>
          </a:xfrm>
          <a:prstGeom prst="roundRect">
            <a:avLst>
              <a:gd name="adj" fmla="val 6977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754880" y="3154680"/>
            <a:ext cx="1874520" cy="40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0.21</a:t>
            </a:r>
            <a:endParaRPr lang="en-US" sz="1700" dirty="0"/>
          </a:p>
        </p:txBody>
      </p:sp>
      <p:sp>
        <p:nvSpPr>
          <p:cNvPr id="19" name="Text 15"/>
          <p:cNvSpPr/>
          <p:nvPr/>
        </p:nvSpPr>
        <p:spPr>
          <a:xfrm>
            <a:off x="4754880" y="3519343"/>
            <a:ext cx="1874520" cy="283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kern="0" spc="10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LOSS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6748272" y="3063240"/>
            <a:ext cx="1874520" cy="786384"/>
          </a:xfrm>
          <a:prstGeom prst="roundRect">
            <a:avLst>
              <a:gd name="adj" fmla="val 6977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748272" y="3154680"/>
            <a:ext cx="1874520" cy="40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0.13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6748272" y="3519343"/>
            <a:ext cx="1874520" cy="283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kern="0" spc="10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LOSS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4754880" y="3941064"/>
            <a:ext cx="1874520" cy="786384"/>
          </a:xfrm>
          <a:prstGeom prst="roundRect">
            <a:avLst>
              <a:gd name="adj" fmla="val 6977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754880" y="4032504"/>
            <a:ext cx="1874520" cy="40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91.5%</a:t>
            </a:r>
            <a:endParaRPr lang="en-US" sz="1700" dirty="0"/>
          </a:p>
        </p:txBody>
      </p:sp>
      <p:sp>
        <p:nvSpPr>
          <p:cNvPr id="25" name="Text 21"/>
          <p:cNvSpPr/>
          <p:nvPr/>
        </p:nvSpPr>
        <p:spPr>
          <a:xfrm>
            <a:off x="4754880" y="4397167"/>
            <a:ext cx="1874520" cy="283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kern="0" spc="10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ACC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6748272" y="3941064"/>
            <a:ext cx="1874520" cy="786384"/>
          </a:xfrm>
          <a:prstGeom prst="roundRect">
            <a:avLst>
              <a:gd name="adj" fmla="val 6977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748272" y="4032504"/>
            <a:ext cx="1874520" cy="40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94.7%</a:t>
            </a:r>
            <a:endParaRPr lang="en-US" sz="1700" dirty="0"/>
          </a:p>
        </p:txBody>
      </p:sp>
      <p:sp>
        <p:nvSpPr>
          <p:cNvPr id="28" name="Text 24"/>
          <p:cNvSpPr/>
          <p:nvPr/>
        </p:nvSpPr>
        <p:spPr>
          <a:xfrm>
            <a:off x="6748272" y="4397167"/>
            <a:ext cx="1874520" cy="283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kern="0" spc="10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ACC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FB923C"/>
          </a:solidFill>
          <a:ln/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5720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2743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— Where did the CNN look?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88720" y="74980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× last Conv1D activation → importance per timestep · Window #244654 (ANOMALY)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393192" y="1329939"/>
            <a:ext cx="4105656" cy="3100841"/>
          </a:xfrm>
          <a:prstGeom prst="roundRect">
            <a:avLst>
              <a:gd name="adj" fmla="val 1474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7" name="Image 1" descr="img/gradcam_im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93947"/>
            <a:ext cx="3977640" cy="297282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458213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 — Raw signal · heatmap · coloured signal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4617720" y="1097280"/>
            <a:ext cx="4069080" cy="1133856"/>
          </a:xfrm>
          <a:prstGeom prst="roundRect">
            <a:avLst>
              <a:gd name="adj" fmla="val 483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4764024" y="1261872"/>
            <a:ext cx="118872" cy="118872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11" name="Text 7"/>
          <p:cNvSpPr/>
          <p:nvPr/>
        </p:nvSpPr>
        <p:spPr>
          <a:xfrm>
            <a:off x="4965192" y="11887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focus — t=3–5, t=22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4782312" y="1481328"/>
            <a:ext cx="3739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Darkest red (0.88 / 0.89) at the sharpest Ammonia spikes above 8 mg/l. The last Conv layer fired hardest here.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617720" y="2340864"/>
            <a:ext cx="4069080" cy="1133856"/>
          </a:xfrm>
          <a:prstGeom prst="roundRect">
            <a:avLst>
              <a:gd name="adj" fmla="val 483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764024" y="2505456"/>
            <a:ext cx="118872" cy="118872"/>
          </a:xfrm>
          <a:prstGeom prst="ellipse">
            <a:avLst/>
          </a:prstGeom>
          <a:solidFill>
            <a:srgbClr val="FB923C"/>
          </a:solidFill>
          <a:ln/>
        </p:spPr>
      </p:sp>
      <p:sp>
        <p:nvSpPr>
          <p:cNvPr id="15" name="Text 11"/>
          <p:cNvSpPr/>
          <p:nvPr/>
        </p:nvSpPr>
        <p:spPr>
          <a:xfrm>
            <a:off x="4965192" y="243230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focus — t=55–70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782312" y="2724912"/>
            <a:ext cx="3739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orange (0.60–0.68) over a prolonged elevated-Ammonia period — the CNN recognises pollution, not just spikes.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17720" y="3584448"/>
            <a:ext cx="4069080" cy="1133856"/>
          </a:xfrm>
          <a:prstGeom prst="roundRect">
            <a:avLst>
              <a:gd name="adj" fmla="val 483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764024" y="3749040"/>
            <a:ext cx="118872" cy="118872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9" name="Text 15"/>
          <p:cNvSpPr/>
          <p:nvPr/>
        </p:nvSpPr>
        <p:spPr>
          <a:xfrm>
            <a:off x="4965192" y="367588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suspicion — t=10–18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4782312" y="3968496"/>
            <a:ext cx="3739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where Ammonia returns to baseline between spikes — correctly judged less suspicious inside the anomaly window.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60A5FA"/>
          </a:solidFill>
          <a:ln/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5720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2743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— How much did each timestep add?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88720" y="74980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Shapley values vs 50 normal backgrounds · signed attribution · Window #244654 (ANOMALY)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393192" y="1282952"/>
            <a:ext cx="4105656" cy="3194816"/>
          </a:xfrm>
          <a:prstGeom prst="roundRect">
            <a:avLst>
              <a:gd name="adj" fmla="val 1431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7" name="Image 1" descr="img/shap_im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46960"/>
            <a:ext cx="3977640" cy="30668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50520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 — Raw signal · heatmap · coloured signal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4617720" y="1097280"/>
            <a:ext cx="4069080" cy="1133856"/>
          </a:xfrm>
          <a:prstGeom prst="roundRect">
            <a:avLst>
              <a:gd name="adj" fmla="val 483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4764024" y="1261872"/>
            <a:ext cx="118872" cy="118872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11" name="Text 7"/>
          <p:cNvSpPr/>
          <p:nvPr/>
        </p:nvSpPr>
        <p:spPr>
          <a:xfrm>
            <a:off x="4965192" y="11887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driver — t=0–1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4782312" y="1481328"/>
            <a:ext cx="3739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maroon — the highest positive SHAP value. Initial Ammonia ≈16 mg/l was the single most decisive moment.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617720" y="2340864"/>
            <a:ext cx="4069080" cy="1133856"/>
          </a:xfrm>
          <a:prstGeom prst="roundRect">
            <a:avLst>
              <a:gd name="adj" fmla="val 483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764024" y="2505456"/>
            <a:ext cx="118872" cy="118872"/>
          </a:xfrm>
          <a:prstGeom prst="ellipse">
            <a:avLst/>
          </a:prstGeom>
          <a:solidFill>
            <a:srgbClr val="FB923C"/>
          </a:solidFill>
          <a:ln/>
        </p:spPr>
      </p:sp>
      <p:sp>
        <p:nvSpPr>
          <p:cNvPr id="15" name="Text 11"/>
          <p:cNvSpPr/>
          <p:nvPr/>
        </p:nvSpPr>
        <p:spPr>
          <a:xfrm>
            <a:off x="4965192" y="243230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drivers — t=22, t=50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782312" y="2724912"/>
            <a:ext cx="3739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at t=22 (≈0.60) and t=50 (≈0.67) — t=50 ranks higher as it reached ≈9 mg/l, the 2nd-largest spike.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17720" y="3584448"/>
            <a:ext cx="4069080" cy="1133856"/>
          </a:xfrm>
          <a:prstGeom prst="roundRect">
            <a:avLst>
              <a:gd name="adj" fmla="val 483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764024" y="3749040"/>
            <a:ext cx="118872" cy="118872"/>
          </a:xfrm>
          <a:prstGeom prst="ellipse">
            <a:avLst/>
          </a:prstGeom>
          <a:solidFill>
            <a:srgbClr val="60A5FA"/>
          </a:solidFill>
          <a:ln/>
        </p:spPr>
      </p:sp>
      <p:sp>
        <p:nvSpPr>
          <p:cNvPr id="19" name="Text 15"/>
          <p:cNvSpPr/>
          <p:nvPr/>
        </p:nvSpPr>
        <p:spPr>
          <a:xfrm>
            <a:off x="4965192" y="367588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pushers — t=10–18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4782312" y="3968496"/>
            <a:ext cx="3739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baseline readings actively reduce the score — SHAP uniquely captures what counteracted the anomaly.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A78BFA"/>
          </a:solidFill>
          <a:ln/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5720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2743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vs SHAP — Cross-Validation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88720" y="74980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window #244654 · same trained CNN · two independent explanations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393192" y="1048649"/>
            <a:ext cx="3145536" cy="2383263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7" name="Image 1" descr="img/gradcam_im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12657"/>
            <a:ext cx="3017520" cy="22552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3459343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— where the model looked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3574161" y="1033272"/>
            <a:ext cx="3092958" cy="2414016"/>
          </a:xfrm>
          <a:prstGeom prst="roundRect">
            <a:avLst>
              <a:gd name="adj" fmla="val 1894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10" name="Image 2" descr="img/shap_im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8169" y="1097280"/>
            <a:ext cx="2964942" cy="22860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611880" y="347472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— signed contribution (±)</a:t>
            </a:r>
            <a:endParaRPr lang="en-US" sz="950" dirty="0"/>
          </a:p>
        </p:txBody>
      </p:sp>
      <p:sp>
        <p:nvSpPr>
          <p:cNvPr id="12" name="Shape 7"/>
          <p:cNvSpPr/>
          <p:nvPr/>
        </p:nvSpPr>
        <p:spPr>
          <a:xfrm>
            <a:off x="6858000" y="1097280"/>
            <a:ext cx="1828800" cy="2331720"/>
          </a:xfrm>
          <a:prstGeom prst="roundRect">
            <a:avLst>
              <a:gd name="adj" fmla="val 4000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8"/>
          <p:cNvSpPr/>
          <p:nvPr/>
        </p:nvSpPr>
        <p:spPr>
          <a:xfrm>
            <a:off x="6967728" y="11887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DIFFERENCE</a:t>
            </a:r>
            <a:endParaRPr lang="en-US" sz="950" dirty="0"/>
          </a:p>
        </p:txBody>
      </p:sp>
      <p:sp>
        <p:nvSpPr>
          <p:cNvPr id="14" name="Text 9"/>
          <p:cNvSpPr/>
          <p:nvPr/>
        </p:nvSpPr>
        <p:spPr>
          <a:xfrm>
            <a:off x="6967728" y="1481328"/>
            <a:ext cx="162763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
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attention only — where the CNN reacted.
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
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± — how much each step pushed toward anomaly or normal.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457200" y="365760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13234A"/>
          </a:solidFill>
          <a:ln w="15875">
            <a:solidFill>
              <a:srgbClr val="4ADE80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3840480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88720" y="378561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methods independently flag the same drivers</a:t>
            </a:r>
            <a:endParaRPr lang="en-US" sz="1350" dirty="0"/>
          </a:p>
        </p:txBody>
      </p:sp>
      <p:sp>
        <p:nvSpPr>
          <p:cNvPr id="18" name="Text 12"/>
          <p:cNvSpPr/>
          <p:nvPr/>
        </p:nvSpPr>
        <p:spPr>
          <a:xfrm>
            <a:off x="685800" y="418795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t=0–5  (spike 16 mg/l)</a:t>
            </a:r>
            <a:endParaRPr lang="en-US" sz="1050" dirty="0"/>
          </a:p>
        </p:txBody>
      </p:sp>
      <p:sp>
        <p:nvSpPr>
          <p:cNvPr id="19" name="Text 13"/>
          <p:cNvSpPr/>
          <p:nvPr/>
        </p:nvSpPr>
        <p:spPr>
          <a:xfrm>
            <a:off x="685800" y="44256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0.88  ·  SHAP top +</a:t>
            </a:r>
            <a:endParaRPr lang="en-US" sz="950" dirty="0"/>
          </a:p>
        </p:txBody>
      </p:sp>
      <p:sp>
        <p:nvSpPr>
          <p:cNvPr id="20" name="Text 14"/>
          <p:cNvSpPr/>
          <p:nvPr/>
        </p:nvSpPr>
        <p:spPr>
          <a:xfrm>
            <a:off x="3383280" y="418795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t=22  (spike 8.5 mg/l)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3383280" y="44256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0.89  ·  SHAP ≈0.60</a:t>
            </a:r>
            <a:endParaRPr lang="en-US" sz="950" dirty="0"/>
          </a:p>
        </p:txBody>
      </p:sp>
      <p:sp>
        <p:nvSpPr>
          <p:cNvPr id="22" name="Text 16"/>
          <p:cNvSpPr/>
          <p:nvPr/>
        </p:nvSpPr>
        <p:spPr>
          <a:xfrm>
            <a:off x="6080760" y="418795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t=10–18  (baseline)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6080760" y="44256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low  ·  SHAP blue (−)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38BDF8"/>
          </a:solidFill>
          <a:ln/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5720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2743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Results Summary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88720" y="74980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trained model · seed 42 · 10 epochs · 94.7% accuracy · Window #244654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15568"/>
          <a:ext cx="8229600" cy="3456432"/>
        </p:xfrm>
        <a:graphic>
          <a:graphicData uri="http://schemas.openxmlformats.org/drawingml/2006/table">
            <a:tbl>
              <a:tblPr/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Accuracy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 on imbalanced dataset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  (start → final)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 → 0.13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38% reduction — consistent learning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 (start → final)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60A5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91.5% → 94.7%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+3.2% over 10 epochs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Grad-CAM top timesteps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t=3–5, t=22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Focused on Ammonia spike peaks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 top timestep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t=0–1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anomaly contribution (16 mg/l)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 secondary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FB92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t=22, t=50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2nd &amp; 3rd largest spikes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XAI agreement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flag the same spike regions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/ True label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78B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#244654 · ANOMALY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2B3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Middle window, correctly classified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A78BFA"/>
          </a:solidFill>
          <a:ln/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5720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2743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Support — XAI in the Real World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88720" y="74980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recent papers using our chosen XAI methods on real-world problems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1078992"/>
            <a:ext cx="4069080" cy="3127248"/>
          </a:xfrm>
          <a:prstGeom prst="roundRect">
            <a:avLst>
              <a:gd name="adj" fmla="val 233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40080" y="1188720"/>
            <a:ext cx="782726" cy="274320"/>
          </a:xfrm>
          <a:prstGeom prst="roundRect">
            <a:avLst>
              <a:gd name="adj" fmla="val 50000"/>
            </a:avLst>
          </a:prstGeom>
          <a:solidFill>
            <a:srgbClr val="13234A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188720"/>
            <a:ext cx="7827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1532534" y="1188720"/>
            <a:ext cx="453542" cy="274320"/>
          </a:xfrm>
          <a:prstGeom prst="roundRect">
            <a:avLst>
              <a:gd name="adj" fmla="val 50000"/>
            </a:avLst>
          </a:prstGeom>
          <a:solidFill>
            <a:srgbClr val="13234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532534" y="1188720"/>
            <a:ext cx="4535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095805" y="1188720"/>
            <a:ext cx="1111910" cy="274320"/>
          </a:xfrm>
          <a:prstGeom prst="roundRect">
            <a:avLst>
              <a:gd name="adj" fmla="val 50000"/>
            </a:avLst>
          </a:prstGeom>
          <a:solidFill>
            <a:srgbClr val="13234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095805" y="1188720"/>
            <a:ext cx="11119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640080" y="1554480"/>
            <a:ext cx="3703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Time Series as Images for Anomaly Detection Using CNN &amp; Grad-CAM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0080" y="228600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Hyun et al. · IJPEM · 2024 · DOI 10.1007/s12541-024-01069-6</a:t>
            </a:r>
            <a:endParaRPr lang="en-US" sz="880" dirty="0"/>
          </a:p>
        </p:txBody>
      </p:sp>
      <p:sp>
        <p:nvSpPr>
          <p:cNvPr id="15" name="Text 12"/>
          <p:cNvSpPr/>
          <p:nvPr/>
        </p:nvSpPr>
        <p:spPr>
          <a:xfrm>
            <a:off x="640080" y="2578608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97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did   </a:t>
            </a:r>
            <a:r>
              <a:rPr lang="en-US" sz="97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1D signals to 2D images (GAF/RP), classify with ResNet50, then use Grad-CAM to pinpoint fault timestamps — 99.6% accuracy.</a:t>
            </a:r>
            <a:endParaRPr lang="en-US" sz="970" dirty="0"/>
          </a:p>
        </p:txBody>
      </p:sp>
      <p:sp>
        <p:nvSpPr>
          <p:cNvPr id="16" name="Text 13"/>
          <p:cNvSpPr/>
          <p:nvPr/>
        </p:nvSpPr>
        <p:spPr>
          <a:xfrm>
            <a:off x="640080" y="3456432"/>
            <a:ext cx="3703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97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us   </a:t>
            </a:r>
            <a:r>
              <a:rPr lang="en-US" sz="97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apply Grad-CAM directly to raw 1D Ammonia signals; our t=3–5 / t=22 focus mirrors their temporal-localisation finding.</a:t>
            </a:r>
            <a:endParaRPr lang="en-US" sz="970" dirty="0"/>
          </a:p>
        </p:txBody>
      </p:sp>
      <p:sp>
        <p:nvSpPr>
          <p:cNvPr id="17" name="Shape 14"/>
          <p:cNvSpPr/>
          <p:nvPr/>
        </p:nvSpPr>
        <p:spPr>
          <a:xfrm>
            <a:off x="4617720" y="1078992"/>
            <a:ext cx="4069080" cy="3127248"/>
          </a:xfrm>
          <a:prstGeom prst="roundRect">
            <a:avLst>
              <a:gd name="adj" fmla="val 2339"/>
            </a:avLst>
          </a:prstGeom>
          <a:solidFill>
            <a:srgbClr val="101D38"/>
          </a:solidFill>
          <a:ln w="12700">
            <a:solidFill>
              <a:srgbClr val="22335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800600" y="1188720"/>
            <a:ext cx="519379" cy="274320"/>
          </a:xfrm>
          <a:prstGeom prst="roundRect">
            <a:avLst>
              <a:gd name="adj" fmla="val 50000"/>
            </a:avLst>
          </a:prstGeom>
          <a:solidFill>
            <a:srgbClr val="13234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00600" y="1188720"/>
            <a:ext cx="5193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429707" y="1188720"/>
            <a:ext cx="1111910" cy="274320"/>
          </a:xfrm>
          <a:prstGeom prst="roundRect">
            <a:avLst>
              <a:gd name="adj" fmla="val 50000"/>
            </a:avLst>
          </a:prstGeom>
          <a:solidFill>
            <a:srgbClr val="13234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429707" y="1188720"/>
            <a:ext cx="11119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651346" y="1188720"/>
            <a:ext cx="1111910" cy="274320"/>
          </a:xfrm>
          <a:prstGeom prst="roundRect">
            <a:avLst>
              <a:gd name="adj" fmla="val 50000"/>
            </a:avLst>
          </a:prstGeom>
          <a:solidFill>
            <a:srgbClr val="13234A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51346" y="1188720"/>
            <a:ext cx="11119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Quality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4800600" y="1554480"/>
            <a:ext cx="3703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Anomaly Detection for Water-Quality Sensor Monitoring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00600" y="228600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El-Shafeiy et al. · Sensors (MDPI) · 2023 · DOI 10.3390/s23208613</a:t>
            </a:r>
            <a:endParaRPr lang="en-US" sz="880" dirty="0"/>
          </a:p>
        </p:txBody>
      </p:sp>
      <p:sp>
        <p:nvSpPr>
          <p:cNvPr id="26" name="Text 23"/>
          <p:cNvSpPr/>
          <p:nvPr/>
        </p:nvSpPr>
        <p:spPr>
          <a:xfrm>
            <a:off x="4800600" y="2578608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97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did   </a:t>
            </a:r>
            <a:r>
              <a:rPr lang="en-US" sz="97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MCN-LSTM for IoT water-quality anomalies, explained with SHAP/LIME. SHAP values aligned with physical water thresholds.</a:t>
            </a:r>
            <a:endParaRPr lang="en-US" sz="970" dirty="0"/>
          </a:p>
        </p:txBody>
      </p:sp>
      <p:sp>
        <p:nvSpPr>
          <p:cNvPr id="27" name="Text 24"/>
          <p:cNvSpPr/>
          <p:nvPr/>
        </p:nvSpPr>
        <p:spPr>
          <a:xfrm>
            <a:off x="4800600" y="3456432"/>
            <a:ext cx="3703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97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us   </a:t>
            </a:r>
            <a:r>
              <a:rPr lang="en-US" sz="97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domain &amp; XAI method. They use SHAP per sensor feature; we apply it per timestep — t=0–1 (16 mg/l) as primary driver.</a:t>
            </a:r>
            <a:endParaRPr lang="en-US" sz="970" dirty="0"/>
          </a:p>
        </p:txBody>
      </p:sp>
      <p:sp>
        <p:nvSpPr>
          <p:cNvPr id="28" name="Shape 25"/>
          <p:cNvSpPr/>
          <p:nvPr/>
        </p:nvSpPr>
        <p:spPr>
          <a:xfrm>
            <a:off x="457200" y="431596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13234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58368" y="4315968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r>
              <a:rPr lang="en-US" sz="11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confirm XAI is essential for trustworthy sensor anomaly detection — our dual Grad-CAM + SHAP results align with the literature.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6309360" y="2377440"/>
            <a:ext cx="2743200" cy="2743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40080" y="8412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AF1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AquaXAI — Detect, then Explain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792224"/>
            <a:ext cx="182880" cy="182880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6" name="Text 3"/>
          <p:cNvSpPr/>
          <p:nvPr/>
        </p:nvSpPr>
        <p:spPr>
          <a:xfrm>
            <a:off x="960120" y="1700784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94.7% accuracy   </a:t>
            </a:r>
            <a:r>
              <a:rPr lang="en-US" sz="12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CNN detects water-quality anomalies (loss 0.13) on an imbalanced 7.6%-anomaly dataset.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40080" y="2395728"/>
            <a:ext cx="182880" cy="182880"/>
          </a:xfrm>
          <a:prstGeom prst="ellipse">
            <a:avLst/>
          </a:prstGeom>
          <a:solidFill>
            <a:srgbClr val="FB923C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2304288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= where   </a:t>
            </a:r>
            <a:r>
              <a:rPr lang="en-US" sz="12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Highlights the timesteps the CNN reacted to most — sharp Ammonia spikes at t=3–5 and t=22.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2999232"/>
            <a:ext cx="182880" cy="182880"/>
          </a:xfrm>
          <a:prstGeom prst="ellipse">
            <a:avLst/>
          </a:prstGeom>
          <a:solidFill>
            <a:srgbClr val="60A5FA"/>
          </a:solidFill>
          <a:ln/>
        </p:spPr>
      </p:sp>
      <p:sp>
        <p:nvSpPr>
          <p:cNvPr id="10" name="Text 7"/>
          <p:cNvSpPr/>
          <p:nvPr/>
        </p:nvSpPr>
        <p:spPr>
          <a:xfrm>
            <a:off x="960120" y="2907792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= how much   </a:t>
            </a:r>
            <a:r>
              <a:rPr lang="en-US" sz="12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Signed, bidirectional attribution — t=0–1 (16 mg/l) as primary driver, blue baselines as counter-evidence.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3602736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2" name="Text 9"/>
          <p:cNvSpPr/>
          <p:nvPr/>
        </p:nvSpPr>
        <p:spPr>
          <a:xfrm>
            <a:off x="960120" y="3511296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   </a:t>
            </a:r>
            <a:r>
              <a:rPr lang="en-US" sz="12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methods converge on the same Ammonia-spike timesteps — confirming real pollution detection, not noise.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40080" y="4206240"/>
            <a:ext cx="182880" cy="18288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4" name="Text 11"/>
          <p:cNvSpPr/>
          <p:nvPr/>
        </p:nvSpPr>
        <p:spPr>
          <a:xfrm>
            <a:off x="960120" y="4114800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&amp; literature   </a:t>
            </a:r>
            <a:r>
              <a:rPr lang="en-US" sz="1200" dirty="0">
                <a:solidFill>
                  <a:srgbClr val="A2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complementary XAI methods raise interpretability; results align with Hyun (2024) &amp; El-Shafeiy (2023).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0080" y="47365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AquaXAI</a:t>
            </a:r>
            <a:r>
              <a:rPr lang="en-US" sz="1050" dirty="0">
                <a:solidFill>
                  <a:srgbClr val="6B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Visual Analytics — Topic 3  ·  Supervisor: Prof. Dr. Dominik Raab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1162</Words>
  <Application>Microsoft Office PowerPoint</Application>
  <PresentationFormat>On-screen Show (16:9)</PresentationFormat>
  <Paragraphs>160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Courier New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AquaXAI — Explainable Water Quality Anomaly Detection</dc:title>
  <dc:subject>PptxGenJS Presentation</dc:subject>
  <dc:creator>AquaXAI</dc:creator>
  <cp:lastModifiedBy>AMIT RAWAT</cp:lastModifiedBy>
  <cp:revision>7</cp:revision>
  <dcterms:created xsi:type="dcterms:W3CDTF">2026-06-23T15:35:26Z</dcterms:created>
  <dcterms:modified xsi:type="dcterms:W3CDTF">2026-06-27T11:57:43Z</dcterms:modified>
</cp:coreProperties>
</file>